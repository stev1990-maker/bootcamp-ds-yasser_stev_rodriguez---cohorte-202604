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Urbanist Medium"/>
      <p:regular r:id="rId9"/>
      <p:bold r:id="rId10"/>
      <p:italic r:id="rId11"/>
      <p:boldItalic r:id="rId12"/>
    </p:embeddedFont>
    <p:embeddedFont>
      <p:font typeface="Urbanist SemiBold"/>
      <p:regular r:id="rId13"/>
      <p:bold r:id="rId14"/>
      <p:italic r:id="rId15"/>
      <p:boldItalic r:id="rId16"/>
    </p:embeddedFon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UrbanistMedium-italic.fntdata"/><Relationship Id="rId10" Type="http://schemas.openxmlformats.org/officeDocument/2006/relationships/font" Target="fonts/UrbanistMedium-bold.fntdata"/><Relationship Id="rId13" Type="http://schemas.openxmlformats.org/officeDocument/2006/relationships/font" Target="fonts/UrbanistSemiBold-regular.fntdata"/><Relationship Id="rId12" Type="http://schemas.openxmlformats.org/officeDocument/2006/relationships/font" Target="fonts/UrbanistMedium-boldItalic.fntdata"/><Relationship Id="rId15" Type="http://schemas.openxmlformats.org/officeDocument/2006/relationships/font" Target="fonts/UrbanistSemiBold-italic.fntdata"/><Relationship Id="rId14" Type="http://schemas.openxmlformats.org/officeDocument/2006/relationships/font" Target="fonts/UrbanistSemiBold-bold.fntdata"/><Relationship Id="rId17" Type="http://schemas.openxmlformats.org/officeDocument/2006/relationships/font" Target="fonts/Urbanist-regular.fntdata"/><Relationship Id="rId16" Type="http://schemas.openxmlformats.org/officeDocument/2006/relationships/font" Target="fonts/UrbanistSemiBold-boldItalic.fntdata"/><Relationship Id="rId19" Type="http://schemas.openxmlformats.org/officeDocument/2006/relationships/font" Target="fonts/Urbanist-italic.fntdata"/><Relationship Id="rId18" Type="http://schemas.openxmlformats.org/officeDocument/2006/relationships/font" Target="fonts/Urbanis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184fbdd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184fbdd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184fbdd34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184fbdd34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284325" y="283100"/>
            <a:ext cx="451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 sabemos de IA?</a:t>
            </a:r>
            <a:endParaRPr/>
          </a:p>
        </p:txBody>
      </p:sp>
      <p:sp>
        <p:nvSpPr>
          <p:cNvPr id="483" name="Google Shape;483;p53"/>
          <p:cNvSpPr txBox="1"/>
          <p:nvPr/>
        </p:nvSpPr>
        <p:spPr>
          <a:xfrm>
            <a:off x="401450" y="889525"/>
            <a:ext cx="453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 PC con tiene la capacidad de razonar o “pensar” para tomar decisiones ¿Como lo hace? -- Todo lo que el humano no puede hacer?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-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AUTOMATIZACION -- Paso a paso bien definido que no se adapta a cambios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-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IA -- Da respuestas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basándose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en datos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históricos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y en los patrones inmersos dentro de los datos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4" name="Google Shape;484;p53"/>
          <p:cNvSpPr txBox="1"/>
          <p:nvPr/>
        </p:nvSpPr>
        <p:spPr>
          <a:xfrm>
            <a:off x="543150" y="2676425"/>
            <a:ext cx="33456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Etica en la IA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Privacidad y Seguridad de los datos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Derechos de autor o propiedad de la información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 quien es la culpa? A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quién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hacemos responsable por lo que hace la IA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5" name="Google Shape;485;p53"/>
          <p:cNvSpPr txBox="1"/>
          <p:nvPr/>
        </p:nvSpPr>
        <p:spPr>
          <a:xfrm>
            <a:off x="5437875" y="704750"/>
            <a:ext cx="3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TODO FUNCIONA COMO UNA CAJA NEGRA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6" name="Google Shape;486;p53"/>
          <p:cNvSpPr/>
          <p:nvPr/>
        </p:nvSpPr>
        <p:spPr>
          <a:xfrm>
            <a:off x="6478538" y="1419750"/>
            <a:ext cx="1432800" cy="76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IA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7" name="Google Shape;487;p53"/>
          <p:cNvSpPr/>
          <p:nvPr/>
        </p:nvSpPr>
        <p:spPr>
          <a:xfrm>
            <a:off x="5171925" y="1419750"/>
            <a:ext cx="11571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8" name="Google Shape;488;p53"/>
          <p:cNvSpPr/>
          <p:nvPr/>
        </p:nvSpPr>
        <p:spPr>
          <a:xfrm>
            <a:off x="7974275" y="1532850"/>
            <a:ext cx="1047000" cy="53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Resultado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"/>
          <p:cNvSpPr txBox="1"/>
          <p:nvPr>
            <p:ph type="title"/>
          </p:nvPr>
        </p:nvSpPr>
        <p:spPr>
          <a:xfrm>
            <a:off x="284325" y="283100"/>
            <a:ext cx="38316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Cómo</a:t>
            </a:r>
            <a:r>
              <a:rPr lang="en"/>
              <a:t> aprendemos nosotros?</a:t>
            </a:r>
            <a:endParaRPr/>
          </a:p>
        </p:txBody>
      </p:sp>
      <p:sp>
        <p:nvSpPr>
          <p:cNvPr id="494" name="Google Shape;494;p54"/>
          <p:cNvSpPr txBox="1"/>
          <p:nvPr/>
        </p:nvSpPr>
        <p:spPr>
          <a:xfrm>
            <a:off x="228600" y="2162375"/>
            <a:ext cx="11484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Buscando Patrones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5" name="Google Shape;495;p54"/>
          <p:cNvSpPr txBox="1"/>
          <p:nvPr/>
        </p:nvSpPr>
        <p:spPr>
          <a:xfrm>
            <a:off x="996175" y="3739200"/>
            <a:ext cx="1148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Repitiendo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6" name="Google Shape;496;p54"/>
          <p:cNvSpPr txBox="1"/>
          <p:nvPr/>
        </p:nvSpPr>
        <p:spPr>
          <a:xfrm>
            <a:off x="1377000" y="2162375"/>
            <a:ext cx="1148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Imitación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7" name="Google Shape;497;p54"/>
          <p:cNvSpPr txBox="1"/>
          <p:nvPr/>
        </p:nvSpPr>
        <p:spPr>
          <a:xfrm>
            <a:off x="5080175" y="2422350"/>
            <a:ext cx="1148400" cy="21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Seguimiento de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parámetros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preestablecidos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Tamaño letra fecha, persona, estante,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54"/>
          <p:cNvSpPr txBox="1"/>
          <p:nvPr/>
        </p:nvSpPr>
        <p:spPr>
          <a:xfrm>
            <a:off x="6325900" y="2936400"/>
            <a:ext cx="16296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Segmentación de datos 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54"/>
          <p:cNvSpPr txBox="1"/>
          <p:nvPr/>
        </p:nvSpPr>
        <p:spPr>
          <a:xfrm>
            <a:off x="88950" y="1608263"/>
            <a:ext cx="453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APRENDIZAJE SUPERVISADO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-- Requiere de conocer el resultado en ocasiones previas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54"/>
          <p:cNvSpPr txBox="1"/>
          <p:nvPr/>
        </p:nvSpPr>
        <p:spPr>
          <a:xfrm>
            <a:off x="88950" y="3060750"/>
            <a:ext cx="489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APRENDIZAJE Por Refuerzo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-- Aprender por muchas repeticiones. Recompensas y Castigos. REINFORCEMENT LEARNING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54"/>
          <p:cNvSpPr txBox="1"/>
          <p:nvPr/>
        </p:nvSpPr>
        <p:spPr>
          <a:xfrm>
            <a:off x="4875700" y="1265000"/>
            <a:ext cx="403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APRENDIZAJE  NO SUP</a:t>
            </a: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ERVISA</a:t>
            </a: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-- NO conocemos el resultado. No sabemos que buscamos.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Aquí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puedo hacer segmentación de datos y Reducir dimensionalidad de los datos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